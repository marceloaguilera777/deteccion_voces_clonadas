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Presentarse. Contar en una frase de qué va: entrenamos una IA para distinguir si una voz es de una persona real o si fue clonada por otra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clonación de voz ya es gratis y rápida. Dar el ejemplo del audio de WhatsApp de un “familiar” pidiendo plata. Los detectores que existen son de laboratorio: difíciles de usar para alguien común.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clave: ¿una herramienta sin programación puede servir como primer filtro contra voces clonadas? Y lo importante es probarlo con gente nueva, no con las mismas voces del entrenamiento.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flujo de izquierda a derecha. Remarcar los tres controles: mismo texto, misma compresión de WhatsApp y mismo cable de entrada. Sin eso, el modelo podría “hacer trampa” aprendiendo el formato del archivo en vez de la voz.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muestra es una ventana de un segundo convertida en espectrograma. Hay menos clonadas que reales porque los clones casi no tienen pausas. Las 3 personas de prueba nunca se subieron a Teachable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Azul es entrenamiento, naranja es validación interna. La brecha significa que el modelo se aprendió de memoria a las 6 voces. Eso adelanta lo que pasa en la prueba con gente nueva.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diagonal: 119 reales bien reconocidas y 58 clones detectados. Se probó con ventanas de un segundo en la página web, sin contar silencios. La diferencia entre pasadas viene de dónde cae cada ventana sobre el audio.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métricas toman la voz clonada como clase positiva. Lo honesto: es un resultado moderado. Pero está claramente por encima del azar, o sea el modelo sí detecta algo de la síntesis.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da el tiempo, hacer la demo en vivo: poner un audio real y uno clonado. Explicar que todo corre en el navegador, sin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 principal: con poco presupuesto se puede armar un primer filtro. Mencionar que el desempeño depende de cuántas voces y clonadores se usen para entrenar.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4" y="1330857"/>
            <a:ext cx="9524970" cy="100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82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4" y="2641534"/>
            <a:ext cx="10566426" cy="340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4" y="1330857"/>
            <a:ext cx="9524970" cy="1005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82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4" y="2641534"/>
            <a:ext cx="10566426" cy="340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67"/>
          </a:xfrm>
          <a:prstGeom prst="rect">
            <a:avLst/>
          </a:prstGeom>
          <a:gradFill rotWithShape="1">
            <a:gsLst>
              <a:gs pos="0">
                <a:srgbClr val="0F1620"/>
              </a:gs>
              <a:gs pos="60000">
                <a:srgbClr val="1C2A3A"/>
              </a:gs>
              <a:gs pos="100000">
                <a:srgbClr val="2D4560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774" y="2049941"/>
            <a:ext cx="10883418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200" kern="0" dirty="0">
                <a:solidFill>
                  <a:srgbClr val="8FB4D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PROYECTO DE INTELIGENCIA ARTIFICIAL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74" y="2588313"/>
            <a:ext cx="10883418" cy="82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2F5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¿Voz real o clonada por IA?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774" y="3642303"/>
            <a:ext cx="9156636" cy="388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FCD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Detección de voces clonadas con Teachable Machine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774" y="4259437"/>
            <a:ext cx="10883418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E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Luis Marcelo Aguilera Salazar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74" y="4594634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Ingeniería en Inteligencia Artificial · 4to semestre · Universidad Católica Boliviana San Pablo, Santa Cruz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4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6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4" y="1381651"/>
            <a:ext cx="9810719" cy="103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82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Hoy basta con unos segundos de audio para clonar la voz de cualquier persona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9" y="2746260"/>
            <a:ext cx="3380317" cy="1953307"/>
          </a:xfrm>
          <a:prstGeom prst="roundRect">
            <a:avLst>
              <a:gd name="adj" fmla="val 6339"/>
            </a:avLst>
          </a:prstGeom>
          <a:solidFill>
            <a:srgbClr val="FFFFFF"/>
          </a:solidFill>
          <a:ln w="6350">
            <a:solidFill>
              <a:srgbClr val="D5DDE6"/>
            </a:solidFill>
            <a:prstDash val="solid"/>
          </a:ln>
        </p:spPr>
      </p:sp>
      <p:pic>
        <p:nvPicPr>
          <p:cNvPr id="5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381" y="3001692"/>
            <a:ext cx="355557" cy="3555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381" y="3458836"/>
            <a:ext cx="2955538" cy="26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Clonación fácil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1381" y="3804177"/>
            <a:ext cx="2955538" cy="66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Modelos gratuitos como XTTS-v2 copian timbre, acento y entonación con 10 segundos de referencia.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792" y="2746260"/>
            <a:ext cx="3380390" cy="1953307"/>
          </a:xfrm>
          <a:prstGeom prst="roundRect">
            <a:avLst>
              <a:gd name="adj" fmla="val 6339"/>
            </a:avLst>
          </a:prstGeom>
          <a:solidFill>
            <a:srgbClr val="FFFFFF"/>
          </a:solidFill>
          <a:ln w="6350">
            <a:solidFill>
              <a:srgbClr val="D5DDE6"/>
            </a:solidFill>
            <a:prstDash val="solid"/>
          </a:ln>
        </p:spPr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223" y="3001692"/>
            <a:ext cx="355557" cy="3555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223" y="3458836"/>
            <a:ext cx="2955612" cy="26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Fraude por voz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1223" y="3804177"/>
            <a:ext cx="2955612" cy="66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Audios falsos de un familiar pidiendo dinero, o suplantación de jefes para autorizar pagos.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07" y="2746260"/>
            <a:ext cx="3380317" cy="1953307"/>
          </a:xfrm>
          <a:prstGeom prst="roundRect">
            <a:avLst>
              <a:gd name="adj" fmla="val 6339"/>
            </a:avLst>
          </a:prstGeom>
          <a:solidFill>
            <a:srgbClr val="FFFFFF"/>
          </a:solidFill>
          <a:ln w="6350">
            <a:solidFill>
              <a:srgbClr val="D5DDE6"/>
            </a:solidFill>
            <a:prstDash val="solid"/>
          </a:ln>
        </p:spPr>
      </p:sp>
      <p:pic>
        <p:nvPicPr>
          <p:cNvPr id="13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138" y="3001692"/>
            <a:ext cx="355557" cy="3555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138" y="3458836"/>
            <a:ext cx="2955538" cy="26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Detectores difíciles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51138" y="3804177"/>
            <a:ext cx="2955538" cy="66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sistemas actuales (ASVspoof, AASIST) exigen programación avanzada y mucho cómputo.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6A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2086679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D6E4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4" y="2604760"/>
            <a:ext cx="10464727" cy="1602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2F5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Desarrollar y evaluar un prototipo que distinga voces reales de voces clonadas por IA, usando Teachable Machine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74" y="4486815"/>
            <a:ext cx="9810719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BE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medir qué tan bien funciona con </a:t>
            </a:r>
            <a:r>
              <a:rPr lang="en-US" sz="1600" b="1" dirty="0">
                <a:solidFill>
                  <a:srgbClr val="DBE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personas y frases que el modelo nunca escuchó</a:t>
            </a:r>
            <a:r>
              <a:rPr lang="en-US" sz="1600" dirty="0">
                <a:solidFill>
                  <a:srgbClr val="DBE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4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6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4" y="1330857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82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Seis pasos, del celular al navegador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9" y="2141733"/>
            <a:ext cx="10560075" cy="2250752"/>
          </a:xfrm>
          <a:prstGeom prst="roundRect">
            <a:avLst>
              <a:gd name="adj" fmla="val 5501"/>
            </a:avLst>
          </a:prstGeom>
          <a:solidFill>
            <a:srgbClr val="FFFFFF"/>
          </a:solidFill>
          <a:ln w="6350">
            <a:solidFill>
              <a:srgbClr val="D5DDE6"/>
            </a:solidFill>
            <a:prstDash val="solid"/>
          </a:ln>
        </p:spPr>
      </p:sp>
      <p:pic>
        <p:nvPicPr>
          <p:cNvPr id="5" name="Image 0" descr="Flujo: voces reales, voces clonadas con XTTS-v2, ingreso por VB-Cable, entrenamiento en Teachable Machine, prueba externa y prototipo web">    </p:cNvPr>
          <p:cNvPicPr>
            <a:picLocks noChangeAspect="1"/>
          </p:cNvPicPr>
          <p:nvPr/>
        </p:nvPicPr>
        <p:blipFill>
          <a:blip r:embed="rId1"/>
          <a:srcRect l="0" r="0" t="-300" b="-300"/>
          <a:stretch/>
        </p:blipFill>
        <p:spPr>
          <a:xfrm>
            <a:off x="1079496" y="2346372"/>
            <a:ext cx="10032981" cy="18414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74" y="4700423"/>
            <a:ext cx="3488267" cy="87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Mismo texto, mismas personas.</a:t>
            </a: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Las 20 frases reales y sus clones comparten hablante y contenido, así el modelo aprende la síntesis y no quién habla.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02617" y="4700423"/>
            <a:ext cx="3488342" cy="87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Misma compresión.</a:t>
            </a: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Los clones también pasaron por WhatsApp, igual que los audios reales grabados con celular.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92532" y="4700423"/>
            <a:ext cx="3488267" cy="87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Mismo camino.</a:t>
            </a: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Todo entró a Teachable Machine por el cable virtual VB-Cable, sin ruido de parlantes.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1100364"/>
            <a:ext cx="64882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6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DATOS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4" y="1542219"/>
            <a:ext cx="6488286" cy="103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82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1032 muestras de un segundo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74" y="3621375"/>
            <a:ext cx="6299307" cy="0"/>
          </a:xfrm>
          <a:prstGeom prst="line">
            <a:avLst/>
          </a:prstGeom>
          <a:noFill/>
          <a:ln w="6350">
            <a:solidFill>
              <a:srgbClr val="C9D3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74" y="2878221"/>
            <a:ext cx="1320791" cy="66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B7A6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535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35147" y="3147191"/>
            <a:ext cx="4168516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Voz real · 6 personas, ~90 s cada una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774" y="4469293"/>
            <a:ext cx="6299307" cy="0"/>
          </a:xfrm>
          <a:prstGeom prst="line">
            <a:avLst/>
          </a:prstGeom>
          <a:noFill/>
          <a:ln w="6350">
            <a:solidFill>
              <a:srgbClr val="C9D3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74" y="3726138"/>
            <a:ext cx="1320791" cy="66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241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235147" y="3995108"/>
            <a:ext cx="3681851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Voz clonada · 30 clones XTTS-v2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774" y="4574056"/>
            <a:ext cx="1320791" cy="66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4A58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235147" y="4843022"/>
            <a:ext cx="3734978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Ruido de fondo · 5 tomas de 20 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74" y="5544282"/>
            <a:ext cx="64882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Entrenamiento: 50 épocas · Prueba: 3 personas nuevas con frases 21 a 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69226" y="1454110"/>
            <a:ext cx="3809973" cy="3949675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pic>
        <p:nvPicPr>
          <p:cNvPr id="14" name="Image 0" descr="Las tres clases en Teachable Machine con 100, 535 y 397 muestras y sus espectrogramas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7575576" y="1460460"/>
            <a:ext cx="3797273" cy="3936975"/>
          </a:xfrm>
          <a:prstGeom prst="roundRect">
            <a:avLst>
              <a:gd name="adj" fmla="val 3177"/>
            </a:avLst>
          </a:prstGeom>
        </p:spPr>
      </p:pic>
      <p:sp>
        <p:nvSpPr>
          <p:cNvPr id="15" name="Shape 12"/>
          <p:cNvSpPr/>
          <p:nvPr/>
        </p:nvSpPr>
        <p:spPr>
          <a:xfrm>
            <a:off x="7572401" y="1457285"/>
            <a:ext cx="3803623" cy="3943325"/>
          </a:xfrm>
          <a:prstGeom prst="roundRect">
            <a:avLst>
              <a:gd name="adj" fmla="val 3255"/>
            </a:avLst>
          </a:prstGeom>
          <a:noFill/>
          <a:ln w="6350">
            <a:solidFill>
              <a:srgbClr val="D5DDE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5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6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ENTRENAMIENTO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4" y="1229271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82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Aprende rápido, pero memoriza las voces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9" y="1938561"/>
            <a:ext cx="10560075" cy="3469949"/>
          </a:xfrm>
          <a:prstGeom prst="roundRect">
            <a:avLst>
              <a:gd name="adj" fmla="val 3568"/>
            </a:avLst>
          </a:prstGeom>
          <a:solidFill>
            <a:srgbClr val="FFFFFF"/>
          </a:solidFill>
          <a:ln w="6350">
            <a:solidFill>
              <a:srgbClr val="D5DDE6"/>
            </a:solidFill>
            <a:prstDash val="solid"/>
          </a:ln>
        </p:spPr>
      </p:sp>
      <p:pic>
        <p:nvPicPr>
          <p:cNvPr id="5" name="Image 0" descr="Curvas de exactitud y pérdida por época: entrenamiento llega a 0,92 y validación se queda en 0,70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1650981" y="2041609"/>
            <a:ext cx="8889938" cy="32638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74" y="5614860"/>
            <a:ext cx="10883418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Entrenamiento ~0,92 vs validación ~0,70 desde la época 10: </a:t>
            </a:r>
            <a:r>
              <a:rPr lang="en-US" sz="1600" b="1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sobreajuste</a:t>
            </a:r>
            <a:r>
              <a:rPr lang="en-US" sz="16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unos 20 puntos.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2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6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PRUEBA EXTERNA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4" y="1330855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82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276 segundos de voces que nunca escuchó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74" y="2138558"/>
            <a:ext cx="6984988" cy="1316800"/>
          </a:xfrm>
          <a:prstGeom prst="roundRect">
            <a:avLst>
              <a:gd name="adj" fmla="val 964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74" y="2138558"/>
            <a:ext cx="6984988" cy="1316800"/>
          </a:xfrm>
          <a:custGeom>
            <a:avLst/>
            <a:gdLst/>
            <a:ahLst/>
            <a:cxnLst/>
            <a:rect l="l" t="t" r="r" b="b"/>
            <a:pathLst>
              <a:path w="6984988" h="1316800">
                <a:moveTo>
                  <a:pt x="127000" y="1316800"/>
                </a:moveTo>
                <a:lnTo>
                  <a:pt x="127000" y="13168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6857988" y="0"/>
                </a:lnTo>
                <a:arcTo hR="127000" wR="127000" stAng="16200000" swAng="5400000"/>
                <a:lnTo>
                  <a:pt x="6984988" y="127000"/>
                </a:lnTo>
                <a:arcTo hR="117725" wR="127000" stAng="0" swAng="-5400000"/>
                <a:lnTo>
                  <a:pt x="127000" y="9275"/>
                </a:lnTo>
                <a:arcTo hR="117725" wR="117725" stAng="16200000" swAng="-5400000"/>
                <a:lnTo>
                  <a:pt x="9275" y="1189800"/>
                </a:lnTo>
                <a:arcTo hR="127000" wR="117725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049" y="2147833"/>
            <a:ext cx="6975713" cy="435842"/>
          </a:xfrm>
          <a:custGeom>
            <a:avLst/>
            <a:gdLst/>
            <a:ahLst/>
            <a:cxnLst/>
            <a:rect l="l" t="t" r="r" b="b"/>
            <a:pathLst>
              <a:path w="6975713" h="435842">
                <a:moveTo>
                  <a:pt x="0" y="117725"/>
                </a:moveTo>
                <a:arcTo hR="117725" wR="117725" stAng="10800000" swAng="5400000"/>
                <a:lnTo>
                  <a:pt x="6848713" y="0"/>
                </a:lnTo>
                <a:arcTo hR="127000" wR="127000" stAng="16200000" swAng="5400000"/>
                <a:lnTo>
                  <a:pt x="6975713" y="435842"/>
                </a:lnTo>
                <a:lnTo>
                  <a:pt x="0" y="435842"/>
                </a:lnTo>
                <a:close/>
              </a:path>
            </a:pathLst>
          </a:custGeom>
          <a:solidFill>
            <a:srgbClr val="ECECEC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49" y="2147833"/>
          <a:ext cx="6975713" cy="1307525"/>
        </p:xfrm>
        <a:graphic>
          <a:graphicData uri="http://schemas.openxmlformats.org/drawingml/2006/table">
            <a:tbl>
              <a:tblPr/>
              <a:tblGrid>
                <a:gridCol w="2371742"/>
                <a:gridCol w="1813685"/>
                <a:gridCol w="1813685"/>
                <a:gridCol w="976600"/>
              </a:tblGrid>
              <a:tr h="43584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Clase real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Dijo “real”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Dijo “clonada”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84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Voz real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7A6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119 (71,7 %)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47 (28,3 %)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166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84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Voz clonada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52 (47,3 %)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C24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58 (52,7 %)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2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04112" y="2306808"/>
            <a:ext cx="3270339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personas nuevas, frases 21 a 25, y sus clones por WhatsApp.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04112" y="2860396"/>
            <a:ext cx="3270339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 pasadas del mismo audio: la 1.ª acierta 67,6 % y la 2.ª 60,6 %.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774" y="3760121"/>
            <a:ext cx="10883418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Reconoce mejor lo real que lo clonado:</a:t>
            </a:r>
            <a:r>
              <a: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casi la mitad de los clones pasa como voz real.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67"/>
          </a:xfrm>
          <a:prstGeom prst="rect">
            <a:avLst/>
          </a:prstGeom>
          <a:gradFill rotWithShape="1">
            <a:gsLst>
              <a:gs pos="0">
                <a:srgbClr val="0F1620"/>
              </a:gs>
              <a:gs pos="70000">
                <a:srgbClr val="1C2A3A"/>
              </a:gs>
              <a:gs pos="100000">
                <a:srgbClr val="2D4560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774" y="812772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FB4D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74" y="1381649"/>
            <a:ext cx="10883418" cy="52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5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Mejor que adivinar, todavía lejos de perfecto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49" y="2243320"/>
            <a:ext cx="2520952" cy="1577534"/>
          </a:xfrm>
          <a:prstGeom prst="roundRect">
            <a:avLst>
              <a:gd name="adj" fmla="val 7849"/>
            </a:avLst>
          </a:prstGeom>
          <a:solidFill>
            <a:srgbClr val="22324A"/>
          </a:solidFill>
          <a:ln w="6350">
            <a:solidFill>
              <a:srgbClr val="3A5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947" y="2473319"/>
            <a:ext cx="2122784" cy="66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2F5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64,1 %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5947" y="3164216"/>
            <a:ext cx="21227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Exactitud (177/276)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32" y="2243320"/>
            <a:ext cx="2520952" cy="1577534"/>
          </a:xfrm>
          <a:prstGeom prst="roundRect">
            <a:avLst>
              <a:gd name="adj" fmla="val 7849"/>
            </a:avLst>
          </a:prstGeom>
          <a:solidFill>
            <a:srgbClr val="22324A"/>
          </a:solidFill>
          <a:ln w="6350">
            <a:solidFill>
              <a:srgbClr val="3A5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5631" y="2473319"/>
            <a:ext cx="2122784" cy="66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8A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52,7 %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25631" y="3164216"/>
            <a:ext cx="2122784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Clones detectados (sensibilidad)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5316" y="2243320"/>
            <a:ext cx="2520952" cy="1577534"/>
          </a:xfrm>
          <a:prstGeom prst="roundRect">
            <a:avLst>
              <a:gd name="adj" fmla="val 7849"/>
            </a:avLst>
          </a:prstGeom>
          <a:solidFill>
            <a:srgbClr val="22324A"/>
          </a:solidFill>
          <a:ln w="6350">
            <a:solidFill>
              <a:srgbClr val="3A5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5314" y="2473319"/>
            <a:ext cx="2122784" cy="66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FD6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71,7 %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5314" y="3164216"/>
            <a:ext cx="2122784" cy="452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Reales reconocidas (especificidad)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55000" y="2243320"/>
            <a:ext cx="2521024" cy="1577534"/>
          </a:xfrm>
          <a:prstGeom prst="roundRect">
            <a:avLst>
              <a:gd name="adj" fmla="val 7849"/>
            </a:avLst>
          </a:prstGeom>
          <a:solidFill>
            <a:srgbClr val="22324A"/>
          </a:solidFill>
          <a:ln w="6350">
            <a:solidFill>
              <a:srgbClr val="3A5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4998" y="2473319"/>
            <a:ext cx="2122858" cy="66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2F5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0,540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84998" y="3164216"/>
            <a:ext cx="21228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 · precisión 55,2 %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74" y="4179587"/>
            <a:ext cx="10464727" cy="594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CD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 un clasificador al azar: exactitud balanceada </a:t>
            </a:r>
            <a:r>
              <a:rPr lang="en-US" sz="1600" b="1" dirty="0">
                <a:solidFill>
                  <a:srgbClr val="F2F5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62,2 % vs 50 %</a:t>
            </a:r>
            <a:r>
              <a:rPr lang="en-US" sz="1600" dirty="0">
                <a:solidFill>
                  <a:srgbClr val="BFCD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F1 </a:t>
            </a:r>
            <a:r>
              <a:rPr lang="en-US" sz="1600" b="1" dirty="0">
                <a:solidFill>
                  <a:srgbClr val="F2F5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0,540 vs 0,444</a:t>
            </a:r>
            <a:r>
              <a:rPr lang="en-US" sz="1600" dirty="0">
                <a:solidFill>
                  <a:srgbClr val="BFCD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Sí aprende rasgos de la síntesis, con un margen moderado.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1605477"/>
            <a:ext cx="48400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6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PROTOTIPO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4" y="2021973"/>
            <a:ext cx="4840093" cy="153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82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detector que corre en el navegador</a:t>
            </a:r>
            <a:endParaRPr lang="en-US" sz="3600" dirty="0"/>
          </a:p>
        </p:txBody>
      </p:sp>
      <p:pic>
        <p:nvPicPr>
          <p:cNvPr id="4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74" y="3736498"/>
            <a:ext cx="279330" cy="279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3692" y="3733961"/>
            <a:ext cx="3816712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exportado a TensorFlow.js</a:t>
            </a:r>
            <a:endParaRPr lang="en-US" sz="1600" dirty="0"/>
          </a:p>
        </p:txBody>
      </p:sp>
      <p:pic>
        <p:nvPicPr>
          <p:cNvPr id="6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774" y="4147852"/>
            <a:ext cx="279330" cy="2793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3692" y="4145316"/>
            <a:ext cx="4074608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Alerta si la voz clonada pasa el 80 %</a:t>
            </a:r>
            <a:endParaRPr lang="en-US" sz="1600" dirty="0"/>
          </a:p>
        </p:txBody>
      </p:sp>
      <p:pic>
        <p:nvPicPr>
          <p:cNvPr id="8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774" y="4559201"/>
            <a:ext cx="279330" cy="2793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93692" y="4556665"/>
            <a:ext cx="4421282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Modo evaluación con matriz y métricas</a:t>
            </a:r>
            <a:endParaRPr lang="en-US" sz="1600" dirty="0"/>
          </a:p>
        </p:txBody>
      </p:sp>
      <p:pic>
        <p:nvPicPr>
          <p:cNvPr id="10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774" y="4970549"/>
            <a:ext cx="279330" cy="2793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93692" y="4968013"/>
            <a:ext cx="3962181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audio no sale de la computadora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5918244" y="1358900"/>
            <a:ext cx="5460955" cy="4140170"/>
          </a:xfrm>
          <a:prstGeom prst="roundRect">
            <a:avLst>
              <a:gd name="adj" fmla="val 3068"/>
            </a:avLst>
          </a:prstGeom>
          <a:solidFill>
            <a:srgbClr val="0F1620"/>
          </a:solidFill>
          <a:ln/>
        </p:spPr>
      </p:sp>
      <p:pic>
        <p:nvPicPr>
          <p:cNvPr id="13" name="Image 4" descr="Página web del detector en modo evaluación con la matriz de confusión y las métricas">    </p:cNvPr>
          <p:cNvPicPr>
            <a:picLocks noChangeAspect="1"/>
          </p:cNvPicPr>
          <p:nvPr/>
        </p:nvPicPr>
        <p:blipFill>
          <a:blip r:embed="rId5"/>
          <a:srcRect l="-37" r="-37" t="0" b="0"/>
          <a:stretch/>
        </p:blipFill>
        <p:spPr>
          <a:xfrm>
            <a:off x="5924594" y="1365250"/>
            <a:ext cx="5448255" cy="4127470"/>
          </a:xfrm>
          <a:prstGeom prst="roundRect">
            <a:avLst>
              <a:gd name="adj" fmla="val 2923"/>
            </a:avLst>
          </a:prstGeom>
        </p:spPr>
      </p:pic>
      <p:sp>
        <p:nvSpPr>
          <p:cNvPr id="14" name="Shape 7"/>
          <p:cNvSpPr/>
          <p:nvPr/>
        </p:nvSpPr>
        <p:spPr>
          <a:xfrm>
            <a:off x="5921419" y="1362075"/>
            <a:ext cx="5454605" cy="4133820"/>
          </a:xfrm>
          <a:prstGeom prst="roundRect">
            <a:avLst>
              <a:gd name="adj" fmla="val 2995"/>
            </a:avLst>
          </a:prstGeom>
          <a:noFill/>
          <a:ln w="6350">
            <a:solidFill>
              <a:srgbClr val="D5DDE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69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3D6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74" y="1330852"/>
            <a:ext cx="9810719" cy="1031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822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herramienta sin código sirve como primer filtro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9" y="2644670"/>
            <a:ext cx="5175275" cy="1694121"/>
          </a:xfrm>
          <a:prstGeom prst="roundRect">
            <a:avLst>
              <a:gd name="adj" fmla="val 7309"/>
            </a:avLst>
          </a:prstGeom>
          <a:solidFill>
            <a:srgbClr val="FFFFFF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381" y="2900102"/>
            <a:ext cx="4804344" cy="26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7A6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se logró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381" y="3270802"/>
            <a:ext cx="4804344" cy="48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Detecta voces clonadas por encima del azar con gente nueva: 64,1 % de exactitud y F1 de 0,540.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381" y="3854822"/>
            <a:ext cx="4916668" cy="25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 alertas son una señal de precaución, no una prueba definitiva.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0749" y="2644670"/>
            <a:ext cx="5175275" cy="1694121"/>
          </a:xfrm>
          <a:prstGeom prst="roundRect">
            <a:avLst>
              <a:gd name="adj" fmla="val 7309"/>
            </a:avLst>
          </a:prstGeom>
          <a:solidFill>
            <a:srgbClr val="FFFFFF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6181" y="2900102"/>
            <a:ext cx="4804344" cy="269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4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6181" y="3270802"/>
            <a:ext cx="4804344" cy="48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6 voces de entrenamiento, un solo clonador (XTTS-v2), un idioma y compresión de WhatsApp.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56181" y="3854822"/>
            <a:ext cx="4804344" cy="25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sobreajuste muestra que necesita más variedad de voces.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74" y="4646730"/>
            <a:ext cx="10883418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Escalable a una app que verifique llamadas y audios de voz. </a:t>
            </a:r>
            <a:r>
              <a:rPr lang="en-US" sz="1600" b="1" dirty="0">
                <a:solidFill>
                  <a:srgbClr val="3D6A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¡Gracias!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¿Voz real o clonada por IA?">
  <a:themeElements>
    <a:clrScheme name="¿Voz real o clonada por IA?">
      <a:dk1>
        <a:srgbClr val="18222E"/>
      </a:dk1>
      <a:lt1>
        <a:srgbClr val="EEF2F6"/>
      </a:lt1>
      <a:dk2>
        <a:srgbClr val="4E5660"/>
      </a:dk2>
      <a:lt2>
        <a:srgbClr val="D9DDE2"/>
      </a:lt2>
      <a:accent1>
        <a:srgbClr val="3D6A99"/>
      </a:accent1>
      <a:accent2>
        <a:srgbClr val="22324A"/>
      </a:accent2>
      <a:accent3>
        <a:srgbClr val="2D4560"/>
      </a:accent3>
      <a:accent4>
        <a:srgbClr val="8FB4DD"/>
      </a:accent4>
      <a:accent5>
        <a:srgbClr val="1B7A62"/>
      </a:accent5>
      <a:accent6>
        <a:srgbClr val="C2413D"/>
      </a:accent6>
      <a:hlink>
        <a:srgbClr val="0563C1"/>
      </a:hlink>
      <a:folHlink>
        <a:srgbClr val="954F72"/>
      </a:folHlink>
    </a:clrScheme>
    <a:fontScheme name="¿Voz real o clonada por IA?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¿Voz real o clonada por IA?</dc:title>
  <dc:subject/>
  <dc:creator/>
  <cp:lastModifiedBy/>
  <cp:revision>1</cp:revision>
  <dcterms:created xsi:type="dcterms:W3CDTF">2026-10-17T05:40:47Z</dcterms:created>
  <dcterms:modified xsi:type="dcterms:W3CDTF">2026-10-17T05:40:47Z</dcterms:modified>
</cp:coreProperties>
</file>